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dce757c-5234-3f2b-da30-392ecc2d2324}">
          <p14:sldIdLst>
            <p14:sldId id="256"/>
            <p14:sldId id="257"/>
            <p14:sldId id="258"/>
          </p14:sldIdLst>
        </p14:section>
        <p14:section name="Platform" id="{5e9908bf-94d1-ba4e-2090-d5145ad9c91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ector" id="{95e85a83-6da7-0ab3-0056-890ec81f22da}">
          <p14:sldIdLst>
            <p14:sldId id="266"/>
            <p14:sldId id="267"/>
          </p14:sldIdLst>
        </p14:section>
        <p14:section name="Readability" id="{098a444b-96a8-a020-0192-b81de88e78a9}">
          <p14:sldIdLst>
            <p14:sldId id="268"/>
            <p14:sldId id="269"/>
          </p14:sldIdLst>
        </p14:section>
        <p14:section name="Closing" id="{3349eaf4-5d94-cb78-2f57-f3ec7db933f1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time (s)</c:v>
                </c:pt>
              </c:strCache>
            </c:strRef>
          </c:tx>
          <c:spPr>
            <a:solidFill>
              <a:srgbClr val="C5CC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A44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5CC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C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CC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CC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CC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0275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</c:v>
                </c:pt>
                <c:pt idx="1">
                  <c:v>8.6</c:v>
                </c:pt>
                <c:pt idx="2">
                  <c:v>7.9</c:v>
                </c:pt>
                <c:pt idx="3">
                  <c:v>7.1</c:v>
                </c:pt>
                <c:pt idx="4">
                  <c:v>6.4</c:v>
                </c:pt>
                <c:pt idx="5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3A44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BXR_COVER_DARK：企業通用封面，主視覺不使用持槍人物。領域簡報請在 tag 寫領域名稱，不改封面底色。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BXR_COVER_LIGHT：淺色封面，適合印刷與白天會議室。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× Sector：產品名不變，領域寫在描述列（FOR 領域）與標籤；領域圖形與標籤用 Light 值。Logo、按鈕、Reality Line 不使用領域色。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BXR_BIG_TYPE：手機閱讀、展覽螢幕、遠距觀看使用。每頁不超過 2 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COVER_DARK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v_c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XR_Logo_H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2011680" cy="4983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5989320"/>
            <a:ext cx="13716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130552" y="5989320"/>
            <a:ext cx="2596896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dash"/>
          </a:ln>
        </p:spPr>
      </p:sp>
      <p:sp>
        <p:nvSpPr>
          <p:cNvPr id="6" name="Shape 2"/>
          <p:cNvSpPr/>
          <p:nvPr/>
        </p:nvSpPr>
        <p:spPr>
          <a:xfrm>
            <a:off x="4800600" y="5989320"/>
            <a:ext cx="13716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8580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CORPORATE PRESENTATION 2026</a:t>
            </a:r>
            <a:endParaRPr lang="en-US" sz="1400" dirty="0"/>
          </a:p>
        </p:txBody>
      </p:sp>
      <p:sp>
        <p:nvSpPr>
          <p:cNvPr id="8" name="Text 3"/>
          <p:cNvSpPr/>
          <p:nvPr>
            <p:ph idx="106" type="title" hasCustomPrompt="1"/>
          </p:nvPr>
        </p:nvSpPr>
        <p:spPr>
          <a:xfrm>
            <a:off x="685800" y="251460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85800" y="448056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中文副標題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COV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v_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XR_Logo_H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2011680" cy="4983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5989320"/>
            <a:ext cx="13716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130552" y="5989320"/>
            <a:ext cx="2596896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dash"/>
          </a:ln>
        </p:spPr>
      </p:sp>
      <p:sp>
        <p:nvSpPr>
          <p:cNvPr id="6" name="Shape 2"/>
          <p:cNvSpPr/>
          <p:nvPr/>
        </p:nvSpPr>
        <p:spPr>
          <a:xfrm>
            <a:off x="4800600" y="5989320"/>
            <a:ext cx="13716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8580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CORPORATE PRESENTATION 2026</a:t>
            </a:r>
            <a:endParaRPr lang="en-US" sz="1400" dirty="0"/>
          </a:p>
        </p:txBody>
      </p:sp>
      <p:sp>
        <p:nvSpPr>
          <p:cNvPr id="8" name="Text 3"/>
          <p:cNvSpPr/>
          <p:nvPr>
            <p:ph idx="106" type="title" hasCustomPrompt="1"/>
          </p:nvPr>
        </p:nvSpPr>
        <p:spPr>
          <a:xfrm>
            <a:off x="685800" y="251460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85800" y="448056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中文副標題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502920"/>
            <a:ext cx="347472" cy="356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SECTION 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68680"/>
            <a:ext cx="4572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Agenda</a:t>
            </a:r>
            <a:endParaRPr lang="en-US" sz="3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852160" y="1005840"/>
            <a:ext cx="566928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400"/>
              </a:spcAft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Agenda items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SECTION">
    <p:bg>
      <p:bgPr>
        <a:solidFill>
          <a:srgbClr val="1E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v_c3.jpg">    </p:cNvPr>
          <p:cNvPicPr>
            <a:picLocks noChangeAspect="1"/>
          </p:cNvPicPr>
          <p:nvPr/>
        </p:nvPicPr>
        <p:blipFill>
          <a:blip r:embed="rId1"/>
          <a:srcRect l="74261" r="-74261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989320"/>
            <a:ext cx="6858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5989320"/>
            <a:ext cx="1225296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2743200" y="5989320"/>
            <a:ext cx="6858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858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9600" dirty="0">
                <a:solidFill>
                  <a:schemeClr val="accent1"/>
                </a:solidFill>
              </a:rPr>
              <a:t>02</a:t>
            </a:r>
            <a:endParaRPr lang="en-US" sz="96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685800" y="292608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85800" y="3977640"/>
            <a:ext cx="5120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章節中文名稱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502920"/>
            <a:ext cx="347472" cy="356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SECTION 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502920"/>
            <a:ext cx="347472" cy="356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SECTION 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Body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TWO_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502920"/>
            <a:ext cx="347472" cy="356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SECTION 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2011680"/>
            <a:ext cx="512064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Left column</a:t>
            </a:r>
            <a:endParaRPr lang="en-US" sz="2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355080" y="2011680"/>
            <a:ext cx="512064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Right column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IMAGE_R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02920"/>
            <a:ext cx="53035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SECTION LABEL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5303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Headline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2560320"/>
            <a:ext cx="530352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Body text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400800" y="0"/>
            <a:ext cx="57908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Image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502920"/>
            <a:ext cx="347472" cy="356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SECTION 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Chart title</a:t>
            </a:r>
            <a:endParaRPr lang="en-US" sz="3600" dirty="0"/>
          </a:p>
        </p:txBody>
      </p:sp>
      <p:sp>
        <p:nvSpPr>
          <p:cNvPr id="6" name="Text 1"/>
          <p:cNvSpPr/>
          <p:nvPr>
            <p:ph idx="104" type="chart" hasCustomPrompt="1"/>
          </p:nvPr>
        </p:nvSpPr>
        <p:spPr>
          <a:xfrm>
            <a:off x="685800" y="2011680"/>
            <a:ext cx="7498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Chart</a:t>
            </a:r>
            <a:endParaRPr lang="en-US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595360" y="2103120"/>
            <a:ext cx="292608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One takeaway sentence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PRODUC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566928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6A3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SECTOR · 領域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417320" y="2103120"/>
            <a:ext cx="5943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PRODUCT NAME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1435608" y="2788920"/>
            <a:ext cx="5943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spc="300" kern="0" dirty="0">
                <a:solidFill>
                  <a:srgbClr val="8A96A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spc="300" kern="0" dirty="0">
                <a:solidFill>
                  <a:srgbClr val="8A96A3"/>
                </a:solidFill>
              </a:rPr>
              <a:t>DESCRIPTOR LINE</a:t>
            </a:r>
            <a:endParaRPr lang="en-US" sz="14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85800" y="3657600"/>
            <a:ext cx="51206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4"/>
                </a:solidFill>
              </a:rPr>
              <a:t>Product features</a:t>
            </a:r>
            <a:endParaRPr lang="en-US" sz="2000" dirty="0"/>
          </a:p>
        </p:txBody>
      </p:sp>
      <p:sp>
        <p:nvSpPr>
          <p:cNvPr id="8" name="Text 1"/>
          <p:cNvSpPr/>
          <p:nvPr>
            <p:ph idx="106" hasCustomPrompt="1"/>
          </p:nvPr>
        </p:nvSpPr>
        <p:spPr>
          <a:xfrm>
            <a:off x="6309360" y="0"/>
            <a:ext cx="588233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4"/>
                </a:solidFill>
              </a:rPr>
              <a:t>Image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STATEMEN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v_c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989320"/>
            <a:ext cx="13716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130552" y="5989320"/>
            <a:ext cx="2596896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4800600" y="5989320"/>
            <a:ext cx="137160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6A3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685800" y="2194560"/>
            <a:ext cx="7315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One strong statement.</a:t>
            </a:r>
            <a:endParaRPr lang="en-US" sz="48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685800" y="448056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Supporting line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BIG_TYP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Symb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502920"/>
            <a:ext cx="53035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</a:rPr>
              <a:t>Big x Reality · Confidential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2296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Big headline</a:t>
            </a:r>
            <a:endParaRPr lang="en-US" sz="5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2743200"/>
            <a:ext cx="1060704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600"/>
              </a:spcAft>
              <a:buNone/>
              <a:defRPr lang="en-US" sz="3200" dirty="0">
                <a:solidFill>
                  <a:schemeClr val="tx2"/>
                </a:solidFill>
              </a:defRPr>
            </a:lvl1pPr>
          </a:lstStyle>
          <a:p>
            <a:pPr algn="l" indent="0" marL="0">
              <a:spcAft>
                <a:spcPts val="1600"/>
              </a:spcAft>
              <a:buNone/>
            </a:pPr>
            <a:r>
              <a:rPr lang="en-US" sz="3200" dirty="0">
                <a:solidFill>
                  <a:schemeClr val="tx2"/>
                </a:solidFill>
              </a:rPr>
              <a:t>Big body text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XR_CLOSING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XR_Logo_H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2194560" cy="5440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989320"/>
            <a:ext cx="269748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456432" y="5989320"/>
            <a:ext cx="5248656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8778240" y="5989320"/>
            <a:ext cx="2697480" cy="0"/>
          </a:xfrm>
          <a:prstGeom prst="line">
            <a:avLst/>
          </a:prstGeom>
          <a:noFill/>
          <a:ln w="22225">
            <a:solidFill>
              <a:srgbClr val="D02753"/>
            </a:solidFill>
            <a:prstDash val="solid"/>
          </a:ln>
        </p:spPr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85800" y="2651760"/>
            <a:ext cx="10789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Turn every drill into real.</a:t>
            </a:r>
            <a:endParaRPr lang="en-US" sz="44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85800" y="3749040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全球動力科技股份有限公司 · bigxreality.com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685800" y="2514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Reality, rehearsed.</a:t>
            </a:r>
            <a:endParaRPr lang="en-US" sz="4400" dirty="0"/>
          </a:p>
        </p:txBody>
      </p:sp>
      <p:sp>
        <p:nvSpPr>
          <p:cNvPr id="3" name="Text 3"/>
          <p:cNvSpPr/>
          <p:nvPr>
            <p:ph idx="107" type="body" hasCustomPrompt="1"/>
          </p:nvPr>
        </p:nvSpPr>
        <p:spPr>
          <a:xfrm>
            <a:off x="685800" y="4480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AI・XR・模擬訓練科技</a:t>
            </a:r>
            <a:endParaRPr lang="en-US" sz="2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6858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CORPORATE PRESENTATION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685800" y="2514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Train for the day the city needs you.</a:t>
            </a:r>
            <a:endParaRPr lang="en-US" sz="4400" dirty="0"/>
          </a:p>
        </p:txBody>
      </p:sp>
      <p:sp>
        <p:nvSpPr>
          <p:cNvPr id="3" name="Text 3"/>
          <p:cNvSpPr/>
          <p:nvPr>
            <p:ph idx="107" type="body" hasCustomPrompt="1"/>
          </p:nvPr>
        </p:nvSpPr>
        <p:spPr>
          <a:xfrm>
            <a:off x="685800" y="4480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防災與智慧城市模擬訓練</a:t>
            </a:r>
            <a:endParaRPr lang="en-US" sz="2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6858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SMART CITY · DISASTER RESPONSE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00 · AGENDA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Today</a:t>
            </a:r>
            <a:endParaRPr lang="en-US" sz="3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852160" y="100584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01　Why simulation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02　Platform and products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03　Sector applications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04　Results and next steps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68580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685800" y="2926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Why simulation</a:t>
            </a:r>
            <a:endParaRPr lang="en-US" sz="40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8580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為什麼需要模擬訓練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01 · WHY SIMULATION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Three things live drills cannot give you</a:t>
            </a:r>
            <a:endParaRPr lang="en-US" sz="3600" dirty="0"/>
          </a:p>
        </p:txBody>
      </p:sp>
      <p:sp>
        <p:nvSpPr>
          <p:cNvPr id="4" name="card1"/>
          <p:cNvSpPr/>
          <p:nvPr/>
        </p:nvSpPr>
        <p:spPr>
          <a:xfrm>
            <a:off x="685800" y="2103120"/>
            <a:ext cx="3383280" cy="3566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card1-num"/>
          <p:cNvSpPr txBox="1"/>
          <p:nvPr/>
        </p:nvSpPr>
        <p:spPr>
          <a:xfrm>
            <a:off x="100584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2753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card1-title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0F14"/>
                </a:solidFill>
              </a:rPr>
              <a:t>Repeatability</a:t>
            </a:r>
            <a:endParaRPr lang="en-US" sz="2600" dirty="0"/>
          </a:p>
        </p:txBody>
      </p:sp>
      <p:sp>
        <p:nvSpPr>
          <p:cNvPr id="7" name="card1-body"/>
          <p:cNvSpPr txBox="1"/>
          <p:nvPr/>
        </p:nvSpPr>
        <p:spPr>
          <a:xfrm>
            <a:off x="1005840" y="36118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44E"/>
                </a:solidFill>
              </a:rPr>
              <a:t>同一情境可重複演練，不受場地與天候限制。</a:t>
            </a:r>
            <a:endParaRPr lang="en-US" sz="1800" dirty="0"/>
          </a:p>
        </p:txBody>
      </p:sp>
      <p:sp>
        <p:nvSpPr>
          <p:cNvPr id="8" name="card2"/>
          <p:cNvSpPr/>
          <p:nvPr/>
        </p:nvSpPr>
        <p:spPr>
          <a:xfrm>
            <a:off x="4343400" y="2103120"/>
            <a:ext cx="3383280" cy="3566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card2-num"/>
          <p:cNvSpPr txBox="1"/>
          <p:nvPr/>
        </p:nvSpPr>
        <p:spPr>
          <a:xfrm>
            <a:off x="466344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2753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card2-title"/>
          <p:cNvSpPr txBox="1"/>
          <p:nvPr/>
        </p:nvSpPr>
        <p:spPr>
          <a:xfrm>
            <a:off x="46634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0F14"/>
                </a:solidFill>
              </a:rPr>
              <a:t>Measurability</a:t>
            </a:r>
            <a:endParaRPr lang="en-US" sz="2600" dirty="0"/>
          </a:p>
        </p:txBody>
      </p:sp>
      <p:sp>
        <p:nvSpPr>
          <p:cNvPr id="11" name="card2-body"/>
          <p:cNvSpPr txBox="1"/>
          <p:nvPr/>
        </p:nvSpPr>
        <p:spPr>
          <a:xfrm>
            <a:off x="4663440" y="36118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44E"/>
                </a:solidFill>
              </a:rPr>
              <a:t>每位學員的位置、時間與決策都被記錄。</a:t>
            </a:r>
            <a:endParaRPr lang="en-US" sz="1800" dirty="0"/>
          </a:p>
        </p:txBody>
      </p:sp>
      <p:sp>
        <p:nvSpPr>
          <p:cNvPr id="12" name="card3"/>
          <p:cNvSpPr/>
          <p:nvPr/>
        </p:nvSpPr>
        <p:spPr>
          <a:xfrm>
            <a:off x="8001000" y="2103120"/>
            <a:ext cx="3383280" cy="3566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card3-num"/>
          <p:cNvSpPr txBox="1"/>
          <p:nvPr/>
        </p:nvSpPr>
        <p:spPr>
          <a:xfrm>
            <a:off x="832104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2753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card3-title"/>
          <p:cNvSpPr txBox="1"/>
          <p:nvPr/>
        </p:nvSpPr>
        <p:spPr>
          <a:xfrm>
            <a:off x="83210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0F14"/>
                </a:solidFill>
              </a:rPr>
              <a:t>Safety</a:t>
            </a:r>
            <a:endParaRPr lang="en-US" sz="2600" dirty="0"/>
          </a:p>
        </p:txBody>
      </p:sp>
      <p:sp>
        <p:nvSpPr>
          <p:cNvPr id="15" name="card3-body"/>
          <p:cNvSpPr txBox="1"/>
          <p:nvPr/>
        </p:nvSpPr>
        <p:spPr>
          <a:xfrm>
            <a:off x="8321040" y="36118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44E"/>
                </a:solidFill>
              </a:rPr>
              <a:t>高風險情境在虛擬環境中演練。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02 · PLATFORM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platform, two ways to train</a:t>
            </a:r>
            <a:endParaRPr lang="en-US" sz="3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20116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B0F14"/>
                </a:solidFill>
              </a:rPr>
              <a:t>VR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完全虛擬場景，適合地形、海域與大範圍任務。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頭戴裝置＋定位系統</a:t>
            </a:r>
            <a:endParaRPr lang="en-US" sz="20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355080" y="20116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B0F14"/>
                </a:solidFill>
              </a:rPr>
              <a:t>MR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在真實場地中加入虛擬角色與狀況。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實體場地＋虛擬情境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03 · DIGITAL TWIN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Your real site, rebuilt 1:1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56032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掃描場地並建立數位孿生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情境、天候與時間可即時切換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訓練紀錄回到同一個模型中復盤</a:t>
            </a:r>
            <a:endParaRPr lang="en-US" sz="2000" dirty="0"/>
          </a:p>
        </p:txBody>
      </p:sp>
      <p:pic>
        <p:nvPicPr>
          <p:cNvPr id="5" name="Image 0" descr="kv_c1.jpg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04 · KEY NUMBERS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a training cycle looks like</a:t>
            </a:r>
            <a:endParaRPr lang="en-US" sz="3600" dirty="0"/>
          </a:p>
        </p:txBody>
      </p:sp>
      <p:sp>
        <p:nvSpPr>
          <p:cNvPr id="4" name="kpi1-rule"/>
          <p:cNvSpPr/>
          <p:nvPr/>
        </p:nvSpPr>
        <p:spPr>
          <a:xfrm>
            <a:off x="685800" y="2377440"/>
            <a:ext cx="3291840" cy="0"/>
          </a:xfrm>
          <a:prstGeom prst="line">
            <a:avLst/>
          </a:prstGeom>
          <a:noFill/>
          <a:ln w="19050">
            <a:solidFill>
              <a:srgbClr val="0B0F14"/>
            </a:solidFill>
            <a:prstDash val="solid"/>
          </a:ln>
        </p:spPr>
      </p:sp>
      <p:sp>
        <p:nvSpPr>
          <p:cNvPr id="5" name="kpi1-value"/>
          <p:cNvSpPr txBox="1"/>
          <p:nvPr/>
        </p:nvSpPr>
        <p:spPr>
          <a:xfrm>
            <a:off x="685800" y="2606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0B0F14"/>
                </a:solidFill>
              </a:rPr>
              <a:t>[00]</a:t>
            </a:r>
            <a:endParaRPr lang="en-US" sz="6600" dirty="0"/>
          </a:p>
        </p:txBody>
      </p:sp>
      <p:sp>
        <p:nvSpPr>
          <p:cNvPr id="6" name="kpi1-label"/>
          <p:cNvSpPr txBox="1"/>
          <p:nvPr/>
        </p:nvSpPr>
        <p:spPr>
          <a:xfrm>
            <a:off x="6858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444E"/>
                </a:solidFill>
              </a:rPr>
              <a:t>情境數量</a:t>
            </a:r>
            <a:endParaRPr lang="en-US" sz="2000" dirty="0"/>
          </a:p>
        </p:txBody>
      </p:sp>
      <p:sp>
        <p:nvSpPr>
          <p:cNvPr id="7" name="kpi2-rule"/>
          <p:cNvSpPr/>
          <p:nvPr/>
        </p:nvSpPr>
        <p:spPr>
          <a:xfrm>
            <a:off x="4343400" y="2377440"/>
            <a:ext cx="3291840" cy="0"/>
          </a:xfrm>
          <a:prstGeom prst="line">
            <a:avLst/>
          </a:prstGeom>
          <a:noFill/>
          <a:ln w="19050">
            <a:solidFill>
              <a:srgbClr val="0B0F14"/>
            </a:solidFill>
            <a:prstDash val="solid"/>
          </a:ln>
        </p:spPr>
      </p:sp>
      <p:sp>
        <p:nvSpPr>
          <p:cNvPr id="8" name="kpi2-value"/>
          <p:cNvSpPr txBox="1"/>
          <p:nvPr/>
        </p:nvSpPr>
        <p:spPr>
          <a:xfrm>
            <a:off x="4343400" y="2606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0B0F14"/>
                </a:solidFill>
              </a:rPr>
              <a:t>[00]</a:t>
            </a:r>
            <a:endParaRPr lang="en-US" sz="6600" dirty="0"/>
          </a:p>
        </p:txBody>
      </p:sp>
      <p:sp>
        <p:nvSpPr>
          <p:cNvPr id="9" name="kpi2-label"/>
          <p:cNvSpPr txBox="1"/>
          <p:nvPr/>
        </p:nvSpPr>
        <p:spPr>
          <a:xfrm>
            <a:off x="43434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444E"/>
                </a:solidFill>
              </a:rPr>
              <a:t>同時學員</a:t>
            </a:r>
            <a:endParaRPr lang="en-US" sz="2000" dirty="0"/>
          </a:p>
        </p:txBody>
      </p:sp>
      <p:sp>
        <p:nvSpPr>
          <p:cNvPr id="10" name="kpi3-rule"/>
          <p:cNvSpPr/>
          <p:nvPr/>
        </p:nvSpPr>
        <p:spPr>
          <a:xfrm>
            <a:off x="8001000" y="2377440"/>
            <a:ext cx="3291840" cy="0"/>
          </a:xfrm>
          <a:prstGeom prst="line">
            <a:avLst/>
          </a:prstGeom>
          <a:noFill/>
          <a:ln w="19050">
            <a:solidFill>
              <a:srgbClr val="0B0F14"/>
            </a:solidFill>
            <a:prstDash val="solid"/>
          </a:ln>
        </p:spPr>
      </p:sp>
      <p:sp>
        <p:nvSpPr>
          <p:cNvPr id="11" name="kpi3-value"/>
          <p:cNvSpPr txBox="1"/>
          <p:nvPr/>
        </p:nvSpPr>
        <p:spPr>
          <a:xfrm>
            <a:off x="8001000" y="2606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D02753"/>
                </a:solidFill>
              </a:rPr>
              <a:t>[00]%</a:t>
            </a:r>
            <a:endParaRPr lang="en-US" sz="6600" dirty="0"/>
          </a:p>
        </p:txBody>
      </p:sp>
      <p:sp>
        <p:nvSpPr>
          <p:cNvPr id="12" name="kpi3-label"/>
          <p:cNvSpPr txBox="1"/>
          <p:nvPr/>
        </p:nvSpPr>
        <p:spPr>
          <a:xfrm>
            <a:off x="80010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444E"/>
                </a:solidFill>
              </a:rPr>
              <a:t>決策時間縮短（樣本）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</a:rPr>
              <a:t>樣本數據示意，正式簡報請替換為經確認的實際數據。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05 · RESULTS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Decision time per session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>
            <p:ph idx="104" type="chart" hasCustomPrompt="1"/>
          </p:nvPr>
        </p:nvGraphicFramePr>
        <p:xfrm>
          <a:off x="685800" y="2011680"/>
          <a:ext cx="7498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>
            <p:ph idx="105" type="body" hasCustomPrompt="1"/>
          </p:nvPr>
        </p:nvSpPr>
        <p:spPr>
          <a:xfrm>
            <a:off x="8595360" y="210312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D02753"/>
                </a:solidFill>
              </a:rPr>
              <a:t>[00]%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第六次訓練的平均決策時間較首次縮短（樣本數據）。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06 · SPECIFICATIONS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System overview</a:t>
            </a:r>
            <a:endParaRPr lang="en-US" sz="3600" dirty="0"/>
          </a:p>
        </p:txBody>
      </p:sp>
      <p:graphicFrame>
        <p:nvGraphicFramePr>
          <p:cNvPr id="11" name="spec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VR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MR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場地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任意空間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實體訓練場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同時學員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[00]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[00]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情境數量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[00]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[00]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紀錄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位置・視線・決策時間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位置・視線・決策時間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1452D"/>
                </a:solidFill>
              </a:rPr>
              <a:t>FIRE &amp; RESCUE · 消防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1417320" y="2103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UAV SYSTEMS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1435608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8A96A3"/>
                </a:solidFill>
              </a:rPr>
              <a:t>FOR FIRE &amp; RESCUE</a:t>
            </a:r>
            <a:endParaRPr lang="en-US" sz="14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85800" y="36576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災區上空即時影像與熱點標示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建物數位孿生與危害區域疊合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救援動線規劃與復盤</a:t>
            </a:r>
            <a:endParaRPr lang="en-US" sz="2000" dirty="0"/>
          </a:p>
        </p:txBody>
      </p:sp>
      <p:pic>
        <p:nvPicPr>
          <p:cNvPr id="6" name="Image 0" descr="kv_uav.jpg">    </p:cNvPr>
          <p:cNvPicPr>
            <a:picLocks noChangeAspect="1"/>
          </p:cNvPicPr>
          <p:nvPr>
            <p:ph idx="106" hasCustomPrompt="1"/>
          </p:nvPr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pic>
        <p:nvPicPr>
          <p:cNvPr id="7" name="sector-graphic" descr="motif_fir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882335" cy="33101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07 · SECTORS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platform, five sectors</a:t>
            </a:r>
            <a:endParaRPr lang="en-US" sz="3600" dirty="0"/>
          </a:p>
        </p:txBody>
      </p:sp>
      <p:sp>
        <p:nvSpPr>
          <p:cNvPr id="4" name="sector0"/>
          <p:cNvSpPr/>
          <p:nvPr/>
        </p:nvSpPr>
        <p:spPr>
          <a:xfrm>
            <a:off x="685800" y="2103120"/>
            <a:ext cx="2011680" cy="2560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ector0-bar"/>
          <p:cNvSpPr/>
          <p:nvPr/>
        </p:nvSpPr>
        <p:spPr>
          <a:xfrm>
            <a:off x="685800" y="2103120"/>
            <a:ext cx="2011680" cy="91440"/>
          </a:xfrm>
          <a:prstGeom prst="rect">
            <a:avLst/>
          </a:prstGeom>
          <a:solidFill>
            <a:srgbClr val="596B42"/>
          </a:solidFill>
          <a:ln w="12700">
            <a:solidFill>
              <a:srgbClr val="596B42"/>
            </a:solidFill>
            <a:prstDash val="solid"/>
          </a:ln>
        </p:spPr>
      </p:sp>
      <p:sp>
        <p:nvSpPr>
          <p:cNvPr id="6" name="sector0-tag"/>
          <p:cNvSpPr txBox="1"/>
          <p:nvPr/>
        </p:nvSpPr>
        <p:spPr>
          <a:xfrm>
            <a:off x="8229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6B42"/>
                </a:solidFill>
              </a:rPr>
              <a:t>ARMY · 陸軍</a:t>
            </a:r>
            <a:endParaRPr lang="en-US" sz="1100" dirty="0"/>
          </a:p>
        </p:txBody>
      </p:sp>
      <p:sp>
        <p:nvSpPr>
          <p:cNvPr id="7" name="sector0-name"/>
          <p:cNvSpPr txBox="1"/>
          <p:nvPr/>
        </p:nvSpPr>
        <p:spPr>
          <a:xfrm>
            <a:off x="850392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0F14"/>
                </a:solidFill>
              </a:rPr>
              <a:t>SUT BOX</a:t>
            </a:r>
            <a:endParaRPr lang="en-US" sz="2000" dirty="0"/>
          </a:p>
        </p:txBody>
      </p:sp>
      <p:sp>
        <p:nvSpPr>
          <p:cNvPr id="8" name="sector0-hex"/>
          <p:cNvSpPr txBox="1"/>
          <p:nvPr/>
        </p:nvSpPr>
        <p:spPr>
          <a:xfrm>
            <a:off x="850392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#596B42</a:t>
            </a:r>
            <a:endParaRPr lang="en-US" sz="1200" dirty="0"/>
          </a:p>
        </p:txBody>
      </p:sp>
      <p:sp>
        <p:nvSpPr>
          <p:cNvPr id="9" name="sector1"/>
          <p:cNvSpPr/>
          <p:nvPr/>
        </p:nvSpPr>
        <p:spPr>
          <a:xfrm>
            <a:off x="2880360" y="2103120"/>
            <a:ext cx="2011680" cy="2560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ector1-bar"/>
          <p:cNvSpPr/>
          <p:nvPr/>
        </p:nvSpPr>
        <p:spPr>
          <a:xfrm>
            <a:off x="2880360" y="2103120"/>
            <a:ext cx="2011680" cy="91440"/>
          </a:xfrm>
          <a:prstGeom prst="rect">
            <a:avLst/>
          </a:prstGeom>
          <a:solidFill>
            <a:srgbClr val="173A55"/>
          </a:solidFill>
          <a:ln w="12700">
            <a:solidFill>
              <a:srgbClr val="173A55"/>
            </a:solidFill>
            <a:prstDash val="solid"/>
          </a:ln>
        </p:spPr>
      </p:sp>
      <p:sp>
        <p:nvSpPr>
          <p:cNvPr id="11" name="sector1-tag"/>
          <p:cNvSpPr txBox="1"/>
          <p:nvPr/>
        </p:nvSpPr>
        <p:spPr>
          <a:xfrm>
            <a:off x="30175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A55"/>
                </a:solidFill>
              </a:rPr>
              <a:t>NAVY · 海軍</a:t>
            </a:r>
            <a:endParaRPr lang="en-US" sz="1100" dirty="0"/>
          </a:p>
        </p:txBody>
      </p:sp>
      <p:sp>
        <p:nvSpPr>
          <p:cNvPr id="12" name="sector1-name"/>
          <p:cNvSpPr txBox="1"/>
          <p:nvPr/>
        </p:nvSpPr>
        <p:spPr>
          <a:xfrm>
            <a:off x="3044952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0F14"/>
                </a:solidFill>
              </a:rPr>
              <a:t>Maritime Sim</a:t>
            </a:r>
            <a:endParaRPr lang="en-US" sz="2000" dirty="0"/>
          </a:p>
        </p:txBody>
      </p:sp>
      <p:sp>
        <p:nvSpPr>
          <p:cNvPr id="13" name="sector1-hex"/>
          <p:cNvSpPr txBox="1"/>
          <p:nvPr/>
        </p:nvSpPr>
        <p:spPr>
          <a:xfrm>
            <a:off x="3044952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#173A55</a:t>
            </a:r>
            <a:endParaRPr lang="en-US" sz="1200" dirty="0"/>
          </a:p>
        </p:txBody>
      </p:sp>
      <p:sp>
        <p:nvSpPr>
          <p:cNvPr id="14" name="sector2"/>
          <p:cNvSpPr/>
          <p:nvPr/>
        </p:nvSpPr>
        <p:spPr>
          <a:xfrm>
            <a:off x="5074920" y="2103120"/>
            <a:ext cx="2011680" cy="2560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ector2-bar"/>
          <p:cNvSpPr/>
          <p:nvPr/>
        </p:nvSpPr>
        <p:spPr>
          <a:xfrm>
            <a:off x="5074920" y="2103120"/>
            <a:ext cx="2011680" cy="91440"/>
          </a:xfrm>
          <a:prstGeom prst="rect">
            <a:avLst/>
          </a:prstGeom>
          <a:solidFill>
            <a:srgbClr val="5D8AA8"/>
          </a:solidFill>
          <a:ln w="12700">
            <a:solidFill>
              <a:srgbClr val="5D8AA8"/>
            </a:solidFill>
            <a:prstDash val="solid"/>
          </a:ln>
        </p:spPr>
      </p:sp>
      <p:sp>
        <p:nvSpPr>
          <p:cNvPr id="16" name="sector2-tag"/>
          <p:cNvSpPr txBox="1"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97289"/>
                </a:solidFill>
              </a:rPr>
              <a:t>AIR FORCE · 空軍</a:t>
            </a:r>
            <a:endParaRPr lang="en-US" sz="1100" dirty="0"/>
          </a:p>
        </p:txBody>
      </p:sp>
      <p:sp>
        <p:nvSpPr>
          <p:cNvPr id="17" name="sector2-name"/>
          <p:cNvSpPr txBox="1"/>
          <p:nvPr/>
        </p:nvSpPr>
        <p:spPr>
          <a:xfrm>
            <a:off x="5239512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0F14"/>
                </a:solidFill>
              </a:rPr>
              <a:t>UAV Systems</a:t>
            </a:r>
            <a:endParaRPr lang="en-US" sz="2000" dirty="0"/>
          </a:p>
        </p:txBody>
      </p:sp>
      <p:sp>
        <p:nvSpPr>
          <p:cNvPr id="18" name="sector2-hex"/>
          <p:cNvSpPr txBox="1"/>
          <p:nvPr/>
        </p:nvSpPr>
        <p:spPr>
          <a:xfrm>
            <a:off x="5239512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#5D8AA8</a:t>
            </a:r>
            <a:endParaRPr lang="en-US" sz="1200" dirty="0"/>
          </a:p>
        </p:txBody>
      </p:sp>
      <p:sp>
        <p:nvSpPr>
          <p:cNvPr id="19" name="sector3"/>
          <p:cNvSpPr/>
          <p:nvPr/>
        </p:nvSpPr>
        <p:spPr>
          <a:xfrm>
            <a:off x="7269480" y="2103120"/>
            <a:ext cx="2011680" cy="2560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sector3-bar"/>
          <p:cNvSpPr/>
          <p:nvPr/>
        </p:nvSpPr>
        <p:spPr>
          <a:xfrm>
            <a:off x="7269480" y="2103120"/>
            <a:ext cx="2011680" cy="91440"/>
          </a:xfrm>
          <a:prstGeom prst="rect">
            <a:avLst/>
          </a:prstGeom>
          <a:solidFill>
            <a:srgbClr val="D2361E"/>
          </a:solidFill>
          <a:ln w="12700">
            <a:solidFill>
              <a:srgbClr val="D2361E"/>
            </a:solidFill>
            <a:prstDash val="solid"/>
          </a:ln>
        </p:spPr>
      </p:sp>
      <p:sp>
        <p:nvSpPr>
          <p:cNvPr id="21" name="sector3-tag"/>
          <p:cNvSpPr txBox="1"/>
          <p:nvPr/>
        </p:nvSpPr>
        <p:spPr>
          <a:xfrm>
            <a:off x="74066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11E"/>
                </a:solidFill>
              </a:rPr>
              <a:t>FIRE &amp; RESCUE · 消防</a:t>
            </a:r>
            <a:endParaRPr lang="en-US" sz="1100" dirty="0"/>
          </a:p>
        </p:txBody>
      </p:sp>
      <p:sp>
        <p:nvSpPr>
          <p:cNvPr id="22" name="sector3-name"/>
          <p:cNvSpPr txBox="1"/>
          <p:nvPr/>
        </p:nvSpPr>
        <p:spPr>
          <a:xfrm>
            <a:off x="7434072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0F14"/>
                </a:solidFill>
              </a:rPr>
              <a:t>Rescue Sim</a:t>
            </a:r>
            <a:endParaRPr lang="en-US" sz="2000" dirty="0"/>
          </a:p>
        </p:txBody>
      </p:sp>
      <p:sp>
        <p:nvSpPr>
          <p:cNvPr id="23" name="sector3-hex"/>
          <p:cNvSpPr txBox="1"/>
          <p:nvPr/>
        </p:nvSpPr>
        <p:spPr>
          <a:xfrm>
            <a:off x="7434072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#D2361E</a:t>
            </a:r>
            <a:endParaRPr lang="en-US" sz="1200" dirty="0"/>
          </a:p>
        </p:txBody>
      </p:sp>
      <p:sp>
        <p:nvSpPr>
          <p:cNvPr id="24" name="sector4"/>
          <p:cNvSpPr/>
          <p:nvPr/>
        </p:nvSpPr>
        <p:spPr>
          <a:xfrm>
            <a:off x="9464040" y="2103120"/>
            <a:ext cx="2011680" cy="2560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sector4-bar"/>
          <p:cNvSpPr/>
          <p:nvPr/>
        </p:nvSpPr>
        <p:spPr>
          <a:xfrm>
            <a:off x="9464040" y="2103120"/>
            <a:ext cx="2011680" cy="91440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26" name="sector4-tag"/>
          <p:cNvSpPr txBox="1"/>
          <p:nvPr/>
        </p:nvSpPr>
        <p:spPr>
          <a:xfrm>
            <a:off x="9601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C9A"/>
                </a:solidFill>
              </a:rPr>
              <a:t>POLICE · 警察</a:t>
            </a:r>
            <a:endParaRPr lang="en-US" sz="1100" dirty="0"/>
          </a:p>
        </p:txBody>
      </p:sp>
      <p:sp>
        <p:nvSpPr>
          <p:cNvPr id="27" name="sector4-name"/>
          <p:cNvSpPr txBox="1"/>
          <p:nvPr/>
        </p:nvSpPr>
        <p:spPr>
          <a:xfrm>
            <a:off x="9628632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0F14"/>
                </a:solidFill>
              </a:rPr>
              <a:t>POLICE BOX</a:t>
            </a:r>
            <a:endParaRPr lang="en-US" sz="2000" dirty="0"/>
          </a:p>
        </p:txBody>
      </p:sp>
      <p:sp>
        <p:nvSpPr>
          <p:cNvPr id="28" name="sector4-hex"/>
          <p:cNvSpPr txBox="1"/>
          <p:nvPr/>
        </p:nvSpPr>
        <p:spPr>
          <a:xfrm>
            <a:off x="9628632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#2E5C9A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44E"/>
                </a:solidFill>
              </a:rPr>
              <a:t>領域色只用「點」與「塊」：標籤、關鍵字、圖表主系列與資訊區塊；Logo、按鈕、Reality Line 維持 BxR Red。領域色為通用聯想色，非任何國家官方識別色。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GUIDE · 可讀性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Minimum type size by medium</a:t>
            </a:r>
            <a:endParaRPr lang="en-US" sz="3600" dirty="0"/>
          </a:p>
        </p:txBody>
      </p:sp>
      <p:graphicFrame>
        <p:nvGraphicFramePr>
          <p:cNvPr id="14" name="read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2377440"/>
                <a:gridCol w="192024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情境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標題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內文最小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註解最小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對比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會議室投影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36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20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14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≥ 7:1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桌面螢幕／PDF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32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16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12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≥ 4.5:1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手機閱讀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44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28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18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≥ 7:1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印刷（A4 講義）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24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11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8 pt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≥ 4.5:1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展覽遠距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依距離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每 1 m 字高 ≥ 8 mm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—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F14"/>
                          </a:solidFill>
                        </a:rPr>
                        <a:t>≥ 7:1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44E"/>
                </a:solidFill>
              </a:rPr>
              <a:t>字重最少 Regular 400；投影與遠距不用 Light 300。手機與展覽請改用 BXR_BIG_TYPE 版型。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822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Train the scenario you can’t stage.</a:t>
            </a:r>
            <a:endParaRPr lang="en-US" sz="5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274320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一頁一個重點</a:t>
            </a:r>
            <a:endParaRPr lang="en-US" sz="32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內文 32 pt，適合手機與展覽螢幕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685800" y="21945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Every space becomes a classroom.</a:t>
            </a:r>
            <a:endParaRPr lang="en-US" sz="48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685800" y="44805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任何空間都能成為可重複的沉浸式訓練場。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85800" y="26517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Turn every drill into real.</a:t>
            </a:r>
            <a:endParaRPr lang="en-US" sz="44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685800" y="3749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全球動力科技股份有限公司 · bigxreality.com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 x Reality v3.2">
  <a:themeElements>
    <a:clrScheme name="Big x Reality v3.2">
      <a:dk1>
        <a:srgbClr val="0B0F14"/>
      </a:dk1>
      <a:lt1>
        <a:srgbClr val="FFFFFF"/>
      </a:lt1>
      <a:dk2>
        <a:srgbClr val="3A444E"/>
      </a:dk2>
      <a:lt2>
        <a:srgbClr val="F2F4F6"/>
      </a:lt2>
      <a:accent1>
        <a:srgbClr val="D02753"/>
      </a:accent1>
      <a:accent2>
        <a:srgbClr val="1E252D"/>
      </a:accent2>
      <a:accent3>
        <a:srgbClr val="5B6670"/>
      </a:accent3>
      <a:accent4>
        <a:srgbClr val="C5CCD3"/>
      </a:accent4>
      <a:accent5>
        <a:srgbClr val="6FC3D1"/>
      </a:accent5>
      <a:accent6>
        <a:srgbClr val="A51C40"/>
      </a:accent6>
      <a:hlink>
        <a:srgbClr val="A51C40"/>
      </a:hlink>
      <a:folHlink>
        <a:srgbClr val="5B6670"/>
      </a:folHlink>
    </a:clrScheme>
    <a:fontScheme name="Big x Reality v3.2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Big x Reality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BXR Presentation Template v3.2</dc:title>
  <dc:subject>PptxGenJS Presentation</dc:subject>
  <dc:creator>Big x Reality</dc:creator>
  <cp:lastModifiedBy>Big x Reality</cp:lastModifiedBy>
  <cp:revision>1</cp:revision>
  <dcterms:created xsi:type="dcterms:W3CDTF">2026-10-13T08:52:40Z</dcterms:created>
  <dcterms:modified xsi:type="dcterms:W3CDTF">2026-10-13T08:52:40Z</dcterms:modified>
</cp:coreProperties>
</file>